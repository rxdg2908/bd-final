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61017150"/>
  <p:notesSz cx="6101715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9525" cy="61740752"/>
          </a:xfrm>
          <a:prstGeom prst="rect">
            <a:avLst/>
          </a:prstGeom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7629525" cy="4698504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4" name="Shape 2"/>
          <p:cNvSpPr/>
          <p:nvPr/>
        </p:nvSpPr>
        <p:spPr>
          <a:xfrm>
            <a:off x="777180" y="830759"/>
            <a:ext cx="247650" cy="9525"/>
          </a:xfrm>
          <a:prstGeom prst="rect">
            <a:avLst/>
          </a:prstGeom>
          <a:solidFill>
            <a:srgbClr val="5E7AA6"/>
          </a:solidFill>
          <a:ln/>
        </p:spPr>
      </p:sp>
      <p:sp>
        <p:nvSpPr>
          <p:cNvPr id="5" name="Text 3"/>
          <p:cNvSpPr/>
          <p:nvPr/>
        </p:nvSpPr>
        <p:spPr>
          <a:xfrm>
            <a:off x="1129605" y="762000"/>
            <a:ext cx="1813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00" spc="144" kern="0" dirty="0">
                <a:solidFill>
                  <a:srgbClr val="9FB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 DEL PROYECTO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180" y="1175742"/>
            <a:ext cx="6257419" cy="98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50" b="1" spc="-3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Gestión de Taller Mecánico AutoFix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77180" y="2293441"/>
            <a:ext cx="5650992" cy="82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C3C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e implementación de una base de datos relacional en Oracle SQL Developer para la gestión integral de clientes, vehículos, servicios, repuestos y órdenes de trabajo.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777180" y="3442543"/>
            <a:ext cx="6075164" cy="9525"/>
          </a:xfrm>
          <a:prstGeom prst="rect">
            <a:avLst/>
          </a:prstGeom>
          <a:solidFill>
            <a:srgbClr val="2D4264"/>
          </a:solidFill>
          <a:ln/>
        </p:spPr>
      </p:sp>
      <p:sp>
        <p:nvSpPr>
          <p:cNvPr id="9" name="Text 7"/>
          <p:cNvSpPr/>
          <p:nvPr/>
        </p:nvSpPr>
        <p:spPr>
          <a:xfrm>
            <a:off x="777180" y="3680668"/>
            <a:ext cx="12552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788" spc="110" kern="0" dirty="0">
                <a:solidFill>
                  <a:srgbClr val="7F9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77180" y="3880693"/>
            <a:ext cx="1255216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SQL Developer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2394347" y="3680668"/>
            <a:ext cx="154468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788" spc="110" kern="0" dirty="0">
                <a:solidFill>
                  <a:srgbClr val="7F9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2394347" y="3880693"/>
            <a:ext cx="1544687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tablas · 8 índices · 3 vistas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4300984" y="3680668"/>
            <a:ext cx="18390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788" spc="110" kern="0" dirty="0">
                <a:solidFill>
                  <a:srgbClr val="7F95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LÓGICA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300984" y="3880693"/>
            <a:ext cx="183906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E7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procedimientos almacenados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777180" y="5346204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59210" y="5212854"/>
            <a:ext cx="141803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77180" y="5731966"/>
            <a:ext cx="6257419" cy="100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proyecto consiste en el diseño e implementación de una base de datos para el taller mecánico </a:t>
            </a:r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AutoFix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utilizando Oracle SQL Developer. El objetivo principal es automatizar el registro y control de clientes, vehículos, servicios, repuestos y órdenes de servicio, permitiendo una gestión eficiente de las operaciones del taller.</a:t>
            </a:r>
            <a:endParaRPr lang="en-US" sz="1163" dirty="0"/>
          </a:p>
        </p:txBody>
      </p:sp>
      <p:sp>
        <p:nvSpPr>
          <p:cNvPr id="18" name="Text 16"/>
          <p:cNvSpPr/>
          <p:nvPr/>
        </p:nvSpPr>
        <p:spPr>
          <a:xfrm>
            <a:off x="777180" y="6831509"/>
            <a:ext cx="6257419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fue desarrollada siguiendo las etapas del diseño de bases de datos: análisis de requisitos, diseño conceptual, diseño lógico, diseño físico, implementación, pruebas y mantenimiento.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777180" y="8063359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59210" y="7930009"/>
            <a:ext cx="105147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777180" y="8449121"/>
            <a:ext cx="625741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b="1" spc="63" kern="0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180" y="8741271"/>
            <a:ext cx="6257419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 implementar una base de datos relacional que permita gestionar eficientemente las operaciones del taller mecánico AutoFix.</a:t>
            </a:r>
            <a:endParaRPr lang="en-US" sz="1163" dirty="0"/>
          </a:p>
        </p:txBody>
      </p:sp>
      <p:sp>
        <p:nvSpPr>
          <p:cNvPr id="23" name="Text 21"/>
          <p:cNvSpPr/>
          <p:nvPr/>
        </p:nvSpPr>
        <p:spPr>
          <a:xfrm>
            <a:off x="777180" y="9429155"/>
            <a:ext cx="625741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b="1" spc="63" kern="0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180" y="9835604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25" name="Text 23"/>
          <p:cNvSpPr/>
          <p:nvPr/>
        </p:nvSpPr>
        <p:spPr>
          <a:xfrm>
            <a:off x="967680" y="9768929"/>
            <a:ext cx="1881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clientes y vehículos.</a:t>
            </a:r>
            <a:endParaRPr lang="en-US" sz="1163" dirty="0"/>
          </a:p>
        </p:txBody>
      </p:sp>
      <p:sp>
        <p:nvSpPr>
          <p:cNvPr id="26" name="Shape 24"/>
          <p:cNvSpPr/>
          <p:nvPr/>
        </p:nvSpPr>
        <p:spPr>
          <a:xfrm>
            <a:off x="3948112" y="9835604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27" name="Text 25"/>
          <p:cNvSpPr/>
          <p:nvPr/>
        </p:nvSpPr>
        <p:spPr>
          <a:xfrm>
            <a:off x="4138613" y="9768929"/>
            <a:ext cx="1931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órdenes de servicio.</a:t>
            </a:r>
            <a:endParaRPr lang="en-US" sz="1163" dirty="0"/>
          </a:p>
        </p:txBody>
      </p:sp>
      <p:sp>
        <p:nvSpPr>
          <p:cNvPr id="28" name="Shape 26"/>
          <p:cNvSpPr/>
          <p:nvPr/>
        </p:nvSpPr>
        <p:spPr>
          <a:xfrm>
            <a:off x="777180" y="10160496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29" name="Text 27"/>
          <p:cNvSpPr/>
          <p:nvPr/>
        </p:nvSpPr>
        <p:spPr>
          <a:xfrm>
            <a:off x="967680" y="10093821"/>
            <a:ext cx="2019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el stock de repuestos.</a:t>
            </a:r>
            <a:endParaRPr lang="en-US" sz="1163" dirty="0"/>
          </a:p>
        </p:txBody>
      </p:sp>
      <p:sp>
        <p:nvSpPr>
          <p:cNvPr id="30" name="Shape 28"/>
          <p:cNvSpPr/>
          <p:nvPr/>
        </p:nvSpPr>
        <p:spPr>
          <a:xfrm>
            <a:off x="3948112" y="10160496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31" name="Text 29"/>
          <p:cNvSpPr/>
          <p:nvPr/>
        </p:nvSpPr>
        <p:spPr>
          <a:xfrm>
            <a:off x="4138613" y="10093821"/>
            <a:ext cx="20920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servicios mecánicos.</a:t>
            </a:r>
            <a:endParaRPr lang="en-US" sz="1163" dirty="0"/>
          </a:p>
        </p:txBody>
      </p:sp>
      <p:sp>
        <p:nvSpPr>
          <p:cNvPr id="32" name="Shape 30"/>
          <p:cNvSpPr/>
          <p:nvPr/>
        </p:nvSpPr>
        <p:spPr>
          <a:xfrm>
            <a:off x="777180" y="10485388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33" name="Text 31"/>
          <p:cNvSpPr/>
          <p:nvPr/>
        </p:nvSpPr>
        <p:spPr>
          <a:xfrm>
            <a:off x="967680" y="10418713"/>
            <a:ext cx="2211735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reportes mediante vistas y procedimientos.</a:t>
            </a:r>
            <a:endParaRPr lang="en-US" sz="1163" dirty="0"/>
          </a:p>
        </p:txBody>
      </p:sp>
      <p:sp>
        <p:nvSpPr>
          <p:cNvPr id="34" name="Shape 32"/>
          <p:cNvSpPr/>
          <p:nvPr/>
        </p:nvSpPr>
        <p:spPr>
          <a:xfrm>
            <a:off x="3948112" y="10485388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35" name="Text 33"/>
          <p:cNvSpPr/>
          <p:nvPr/>
        </p:nvSpPr>
        <p:spPr>
          <a:xfrm>
            <a:off x="4138613" y="10418713"/>
            <a:ext cx="24223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consultas mediante índices.</a:t>
            </a:r>
            <a:endParaRPr lang="en-US" sz="1163" dirty="0"/>
          </a:p>
        </p:txBody>
      </p:sp>
      <p:sp>
        <p:nvSpPr>
          <p:cNvPr id="36" name="Shape 34"/>
          <p:cNvSpPr/>
          <p:nvPr/>
        </p:nvSpPr>
        <p:spPr>
          <a:xfrm>
            <a:off x="777180" y="11049446"/>
            <a:ext cx="57150" cy="57150"/>
          </a:xfrm>
          <a:prstGeom prst="ellipse">
            <a:avLst/>
          </a:prstGeom>
          <a:solidFill>
            <a:srgbClr val="B3551F"/>
          </a:solidFill>
          <a:ln/>
        </p:spPr>
      </p:sp>
      <p:sp>
        <p:nvSpPr>
          <p:cNvPr id="37" name="Text 35"/>
          <p:cNvSpPr/>
          <p:nvPr/>
        </p:nvSpPr>
        <p:spPr>
          <a:xfrm>
            <a:off x="967680" y="10982771"/>
            <a:ext cx="40221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reglas del negocio utilizando procedimientos y cursores.</a:t>
            </a:r>
            <a:endParaRPr lang="en-US" sz="1163" dirty="0"/>
          </a:p>
        </p:txBody>
      </p:sp>
      <p:sp>
        <p:nvSpPr>
          <p:cNvPr id="38" name="Text 36"/>
          <p:cNvSpPr/>
          <p:nvPr/>
        </p:nvSpPr>
        <p:spPr>
          <a:xfrm>
            <a:off x="777180" y="11726763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059210" y="11593413"/>
            <a:ext cx="261327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 de las tablas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777180" y="12036326"/>
            <a:ext cx="6257419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se compone de nueve tablas relacionadas que cubren entidades maestras, catálogos y el flujo transaccional de las órdenes de trabajo.</a:t>
            </a:r>
            <a:endParaRPr lang="en-US" sz="1163" dirty="0"/>
          </a:p>
        </p:txBody>
      </p:sp>
      <p:sp>
        <p:nvSpPr>
          <p:cNvPr id="41" name="Shape 39"/>
          <p:cNvSpPr/>
          <p:nvPr/>
        </p:nvSpPr>
        <p:spPr>
          <a:xfrm>
            <a:off x="777180" y="12724209"/>
            <a:ext cx="6075164" cy="2021384"/>
          </a:xfrm>
          <a:prstGeom prst="roundRect">
            <a:avLst>
              <a:gd name="adj" fmla="val 2827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705" y="12733734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705" y="13151495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44" name="Text 42"/>
          <p:cNvSpPr/>
          <p:nvPr/>
        </p:nvSpPr>
        <p:spPr>
          <a:xfrm>
            <a:off x="939105" y="12838509"/>
            <a:ext cx="616297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013" dirty="0"/>
          </a:p>
        </p:txBody>
      </p:sp>
      <p:sp>
        <p:nvSpPr>
          <p:cNvPr id="45" name="Text 43"/>
          <p:cNvSpPr/>
          <p:nvPr/>
        </p:nvSpPr>
        <p:spPr>
          <a:xfrm>
            <a:off x="1574453" y="12842379"/>
            <a:ext cx="2092523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Información de los clientes del taller.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39105" y="13275320"/>
            <a:ext cx="81915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853505" y="13275320"/>
            <a:ext cx="498202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único.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9105" y="13557945"/>
            <a:ext cx="81915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853505" y="13557945"/>
            <a:ext cx="498202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del cliente.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39105" y="13840569"/>
            <a:ext cx="81915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apellidos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853505" y="13840569"/>
            <a:ext cx="498202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Apellidos del cliente.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39105" y="14123194"/>
            <a:ext cx="81915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telefono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853505" y="14123194"/>
            <a:ext cx="498202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telefónico.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39105" y="14405818"/>
            <a:ext cx="81915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853505" y="14405818"/>
            <a:ext cx="4982021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domiciliaria.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77180" y="14878943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705" y="14888468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8" name="Shape 56"/>
          <p:cNvSpPr/>
          <p:nvPr/>
        </p:nvSpPr>
        <p:spPr>
          <a:xfrm>
            <a:off x="786705" y="15306229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59" name="Text 57"/>
          <p:cNvSpPr/>
          <p:nvPr/>
        </p:nvSpPr>
        <p:spPr>
          <a:xfrm>
            <a:off x="939105" y="14993243"/>
            <a:ext cx="69353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VEHICULO</a:t>
            </a:r>
            <a:endParaRPr lang="en-US" sz="1013" dirty="0"/>
          </a:p>
        </p:txBody>
      </p:sp>
      <p:sp>
        <p:nvSpPr>
          <p:cNvPr id="60" name="Text 58"/>
          <p:cNvSpPr/>
          <p:nvPr/>
        </p:nvSpPr>
        <p:spPr>
          <a:xfrm>
            <a:off x="1651695" y="14997113"/>
            <a:ext cx="329579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Vehículos registrados. Cada vehículo pertenece a un cliente.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939105" y="15430054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4355" y="15468154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id_vehiculo</a:t>
            </a:r>
            <a:endParaRPr lang="en-US" sz="938" dirty="0"/>
          </a:p>
        </p:txBody>
      </p:sp>
      <p:sp>
        <p:nvSpPr>
          <p:cNvPr id="63" name="Shape 61"/>
          <p:cNvSpPr/>
          <p:nvPr/>
        </p:nvSpPr>
        <p:spPr>
          <a:xfrm>
            <a:off x="1982093" y="15430054"/>
            <a:ext cx="547688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77343" y="15468154"/>
            <a:ext cx="433388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placa</a:t>
            </a:r>
            <a:endParaRPr lang="en-US" sz="938" dirty="0"/>
          </a:p>
        </p:txBody>
      </p:sp>
      <p:sp>
        <p:nvSpPr>
          <p:cNvPr id="65" name="Shape 63"/>
          <p:cNvSpPr/>
          <p:nvPr/>
        </p:nvSpPr>
        <p:spPr>
          <a:xfrm>
            <a:off x="2596455" y="15430054"/>
            <a:ext cx="547688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91705" y="15468154"/>
            <a:ext cx="433388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</a:t>
            </a:r>
            <a:endParaRPr lang="en-US" sz="938" dirty="0"/>
          </a:p>
        </p:txBody>
      </p:sp>
      <p:sp>
        <p:nvSpPr>
          <p:cNvPr id="67" name="Shape 65"/>
          <p:cNvSpPr/>
          <p:nvPr/>
        </p:nvSpPr>
        <p:spPr>
          <a:xfrm>
            <a:off x="3210818" y="15430054"/>
            <a:ext cx="619125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06068" y="15468154"/>
            <a:ext cx="5048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938" dirty="0"/>
          </a:p>
        </p:txBody>
      </p:sp>
      <p:sp>
        <p:nvSpPr>
          <p:cNvPr id="69" name="Shape 67"/>
          <p:cNvSpPr/>
          <p:nvPr/>
        </p:nvSpPr>
        <p:spPr>
          <a:xfrm>
            <a:off x="3896618" y="15430054"/>
            <a:ext cx="1262063" cy="269081"/>
          </a:xfrm>
          <a:prstGeom prst="roundRect">
            <a:avLst>
              <a:gd name="adj" fmla="val 14159"/>
            </a:avLst>
          </a:prstGeom>
          <a:solidFill>
            <a:srgbClr val="FDF2EA"/>
          </a:solidFill>
          <a:ln w="9525">
            <a:solidFill>
              <a:srgbClr val="F0D8C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91868" y="15468154"/>
            <a:ext cx="114776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 · FK</a:t>
            </a:r>
            <a:endParaRPr lang="en-US" sz="938" dirty="0"/>
          </a:p>
        </p:txBody>
      </p:sp>
      <p:sp>
        <p:nvSpPr>
          <p:cNvPr id="71" name="Shape 69"/>
          <p:cNvSpPr/>
          <p:nvPr/>
        </p:nvSpPr>
        <p:spPr>
          <a:xfrm>
            <a:off x="777180" y="15956310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6705" y="15965835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3" name="Shape 71"/>
          <p:cNvSpPr/>
          <p:nvPr/>
        </p:nvSpPr>
        <p:spPr>
          <a:xfrm>
            <a:off x="786705" y="16383595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74" name="Text 72"/>
          <p:cNvSpPr/>
          <p:nvPr/>
        </p:nvSpPr>
        <p:spPr>
          <a:xfrm>
            <a:off x="939105" y="16070610"/>
            <a:ext cx="69353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MECANICO</a:t>
            </a:r>
            <a:endParaRPr lang="en-US" sz="1013" dirty="0"/>
          </a:p>
        </p:txBody>
      </p:sp>
      <p:sp>
        <p:nvSpPr>
          <p:cNvPr id="75" name="Text 73"/>
          <p:cNvSpPr/>
          <p:nvPr/>
        </p:nvSpPr>
        <p:spPr>
          <a:xfrm>
            <a:off x="1651695" y="16074479"/>
            <a:ext cx="1244203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Mecánicos del taller.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939105" y="16507420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4355" y="16545520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id_mecanico</a:t>
            </a:r>
            <a:endParaRPr lang="en-US" sz="938" dirty="0"/>
          </a:p>
        </p:txBody>
      </p:sp>
      <p:sp>
        <p:nvSpPr>
          <p:cNvPr id="78" name="Shape 76"/>
          <p:cNvSpPr/>
          <p:nvPr/>
        </p:nvSpPr>
        <p:spPr>
          <a:xfrm>
            <a:off x="1982093" y="16507420"/>
            <a:ext cx="690563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77343" y="16545520"/>
            <a:ext cx="57626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</a:t>
            </a:r>
            <a:endParaRPr lang="en-US" sz="938" dirty="0"/>
          </a:p>
        </p:txBody>
      </p:sp>
      <p:sp>
        <p:nvSpPr>
          <p:cNvPr id="80" name="Shape 78"/>
          <p:cNvSpPr/>
          <p:nvPr/>
        </p:nvSpPr>
        <p:spPr>
          <a:xfrm>
            <a:off x="2739330" y="16507420"/>
            <a:ext cx="104775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580" y="16545520"/>
            <a:ext cx="93345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especialidad</a:t>
            </a:r>
            <a:endParaRPr lang="en-US" sz="938" dirty="0"/>
          </a:p>
        </p:txBody>
      </p:sp>
      <p:sp>
        <p:nvSpPr>
          <p:cNvPr id="82" name="Shape 80"/>
          <p:cNvSpPr/>
          <p:nvPr/>
        </p:nvSpPr>
        <p:spPr>
          <a:xfrm>
            <a:off x="777180" y="17033677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705" y="17043202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4" name="Shape 82"/>
          <p:cNvSpPr/>
          <p:nvPr/>
        </p:nvSpPr>
        <p:spPr>
          <a:xfrm>
            <a:off x="786705" y="17460962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85" name="Text 83"/>
          <p:cNvSpPr/>
          <p:nvPr/>
        </p:nvSpPr>
        <p:spPr>
          <a:xfrm>
            <a:off x="939105" y="17147977"/>
            <a:ext cx="69353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</a:t>
            </a:r>
            <a:endParaRPr lang="en-US" sz="1013" dirty="0"/>
          </a:p>
        </p:txBody>
      </p:sp>
      <p:sp>
        <p:nvSpPr>
          <p:cNvPr id="86" name="Text 84"/>
          <p:cNvSpPr/>
          <p:nvPr/>
        </p:nvSpPr>
        <p:spPr>
          <a:xfrm>
            <a:off x="1651695" y="17151846"/>
            <a:ext cx="1323677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Catálogo de servicios.</a:t>
            </a:r>
            <a:endParaRPr lang="en-US" sz="975" dirty="0"/>
          </a:p>
        </p:txBody>
      </p:sp>
      <p:sp>
        <p:nvSpPr>
          <p:cNvPr id="87" name="Shape 85"/>
          <p:cNvSpPr/>
          <p:nvPr/>
        </p:nvSpPr>
        <p:spPr>
          <a:xfrm>
            <a:off x="939105" y="17584787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4355" y="17622887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id_servicio</a:t>
            </a:r>
            <a:endParaRPr lang="en-US" sz="938" dirty="0"/>
          </a:p>
        </p:txBody>
      </p:sp>
      <p:sp>
        <p:nvSpPr>
          <p:cNvPr id="89" name="Shape 87"/>
          <p:cNvSpPr/>
          <p:nvPr/>
        </p:nvSpPr>
        <p:spPr>
          <a:xfrm>
            <a:off x="1982093" y="17584787"/>
            <a:ext cx="619125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77343" y="17622887"/>
            <a:ext cx="5048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38" dirty="0"/>
          </a:p>
        </p:txBody>
      </p:sp>
      <p:sp>
        <p:nvSpPr>
          <p:cNvPr id="91" name="Shape 89"/>
          <p:cNvSpPr/>
          <p:nvPr/>
        </p:nvSpPr>
        <p:spPr>
          <a:xfrm>
            <a:off x="2667893" y="17584787"/>
            <a:ext cx="619125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63143" y="17622887"/>
            <a:ext cx="5048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endParaRPr lang="en-US" sz="938" dirty="0"/>
          </a:p>
        </p:txBody>
      </p:sp>
      <p:sp>
        <p:nvSpPr>
          <p:cNvPr id="93" name="Shape 91"/>
          <p:cNvSpPr/>
          <p:nvPr/>
        </p:nvSpPr>
        <p:spPr>
          <a:xfrm>
            <a:off x="777180" y="18111043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6705" y="18120568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5" name="Shape 93"/>
          <p:cNvSpPr/>
          <p:nvPr/>
        </p:nvSpPr>
        <p:spPr>
          <a:xfrm>
            <a:off x="786705" y="18538329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96" name="Text 94"/>
          <p:cNvSpPr/>
          <p:nvPr/>
        </p:nvSpPr>
        <p:spPr>
          <a:xfrm>
            <a:off x="939105" y="18225343"/>
            <a:ext cx="69353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REPUESTO</a:t>
            </a:r>
            <a:endParaRPr lang="en-US" sz="1013" dirty="0"/>
          </a:p>
        </p:txBody>
      </p:sp>
      <p:sp>
        <p:nvSpPr>
          <p:cNvPr id="97" name="Text 95"/>
          <p:cNvSpPr/>
          <p:nvPr/>
        </p:nvSpPr>
        <p:spPr>
          <a:xfrm>
            <a:off x="1651695" y="18229213"/>
            <a:ext cx="2640012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Repuestos utilizados, con control de inventario.</a:t>
            </a:r>
            <a:endParaRPr lang="en-US" sz="975" dirty="0"/>
          </a:p>
        </p:txBody>
      </p:sp>
      <p:sp>
        <p:nvSpPr>
          <p:cNvPr id="98" name="Shape 96"/>
          <p:cNvSpPr/>
          <p:nvPr/>
        </p:nvSpPr>
        <p:spPr>
          <a:xfrm>
            <a:off x="939105" y="18662154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34355" y="18700254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id_repuesto</a:t>
            </a:r>
            <a:endParaRPr lang="en-US" sz="938" dirty="0"/>
          </a:p>
        </p:txBody>
      </p:sp>
      <p:sp>
        <p:nvSpPr>
          <p:cNvPr id="100" name="Shape 98"/>
          <p:cNvSpPr/>
          <p:nvPr/>
        </p:nvSpPr>
        <p:spPr>
          <a:xfrm>
            <a:off x="1982093" y="18662154"/>
            <a:ext cx="619125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077343" y="18700254"/>
            <a:ext cx="5048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938" dirty="0"/>
          </a:p>
        </p:txBody>
      </p:sp>
      <p:sp>
        <p:nvSpPr>
          <p:cNvPr id="102" name="Shape 100"/>
          <p:cNvSpPr/>
          <p:nvPr/>
        </p:nvSpPr>
        <p:spPr>
          <a:xfrm>
            <a:off x="2667893" y="18662154"/>
            <a:ext cx="619125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63143" y="18700254"/>
            <a:ext cx="5048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</a:t>
            </a:r>
            <a:endParaRPr lang="en-US" sz="938" dirty="0"/>
          </a:p>
        </p:txBody>
      </p:sp>
      <p:sp>
        <p:nvSpPr>
          <p:cNvPr id="104" name="Shape 102"/>
          <p:cNvSpPr/>
          <p:nvPr/>
        </p:nvSpPr>
        <p:spPr>
          <a:xfrm>
            <a:off x="3353693" y="18662154"/>
            <a:ext cx="547688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48943" y="18700254"/>
            <a:ext cx="433388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</a:t>
            </a:r>
            <a:endParaRPr lang="en-US" sz="938" dirty="0"/>
          </a:p>
        </p:txBody>
      </p:sp>
      <p:sp>
        <p:nvSpPr>
          <p:cNvPr id="106" name="Shape 104"/>
          <p:cNvSpPr/>
          <p:nvPr/>
        </p:nvSpPr>
        <p:spPr>
          <a:xfrm>
            <a:off x="3968055" y="18662154"/>
            <a:ext cx="104775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63305" y="18700254"/>
            <a:ext cx="93345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stock_minimo</a:t>
            </a:r>
            <a:endParaRPr lang="en-US" sz="938" dirty="0"/>
          </a:p>
        </p:txBody>
      </p:sp>
      <p:sp>
        <p:nvSpPr>
          <p:cNvPr id="108" name="Shape 106"/>
          <p:cNvSpPr/>
          <p:nvPr/>
        </p:nvSpPr>
        <p:spPr>
          <a:xfrm>
            <a:off x="777180" y="19188410"/>
            <a:ext cx="6075164" cy="2313533"/>
          </a:xfrm>
          <a:prstGeom prst="roundRect">
            <a:avLst>
              <a:gd name="adj" fmla="val 2470"/>
            </a:avLst>
          </a:prstGeom>
          <a:ln w="9525">
            <a:solidFill>
              <a:srgbClr val="D8C3B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6705" y="19197935"/>
            <a:ext cx="6056114" cy="427286"/>
          </a:xfrm>
          <a:prstGeom prst="rect">
            <a:avLst/>
          </a:prstGeom>
          <a:solidFill>
            <a:srgbClr val="FBF3EC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86705" y="19615696"/>
            <a:ext cx="6056114" cy="9525"/>
          </a:xfrm>
          <a:prstGeom prst="rect">
            <a:avLst/>
          </a:prstGeom>
          <a:solidFill>
            <a:srgbClr val="ECD9C8"/>
          </a:solidFill>
          <a:ln/>
        </p:spPr>
      </p:sp>
      <p:sp>
        <p:nvSpPr>
          <p:cNvPr id="111" name="Text 109"/>
          <p:cNvSpPr/>
          <p:nvPr/>
        </p:nvSpPr>
        <p:spPr>
          <a:xfrm>
            <a:off x="939105" y="19302710"/>
            <a:ext cx="1156395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ORDEN_SERVICIO</a:t>
            </a:r>
            <a:endParaRPr lang="en-US" sz="1013" dirty="0"/>
          </a:p>
        </p:txBody>
      </p:sp>
      <p:sp>
        <p:nvSpPr>
          <p:cNvPr id="112" name="Text 110"/>
          <p:cNvSpPr/>
          <p:nvPr/>
        </p:nvSpPr>
        <p:spPr>
          <a:xfrm>
            <a:off x="2114550" y="19306580"/>
            <a:ext cx="2021086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9A6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Cabecera de cada orden de trabajo.</a:t>
            </a:r>
            <a:endParaRPr lang="en-US" sz="975" dirty="0"/>
          </a:p>
        </p:txBody>
      </p:sp>
      <p:sp>
        <p:nvSpPr>
          <p:cNvPr id="113" name="Text 111"/>
          <p:cNvSpPr/>
          <p:nvPr/>
        </p:nvSpPr>
        <p:spPr>
          <a:xfrm>
            <a:off x="939105" y="19739521"/>
            <a:ext cx="104209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</a:t>
            </a:r>
            <a:endParaRPr lang="en-US" sz="975" dirty="0"/>
          </a:p>
        </p:txBody>
      </p:sp>
      <p:sp>
        <p:nvSpPr>
          <p:cNvPr id="114" name="Text 112"/>
          <p:cNvSpPr/>
          <p:nvPr/>
        </p:nvSpPr>
        <p:spPr>
          <a:xfrm>
            <a:off x="2076450" y="19739521"/>
            <a:ext cx="475238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de la orden.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939105" y="20022145"/>
            <a:ext cx="104209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id_vehiculo</a:t>
            </a:r>
            <a:endParaRPr lang="en-US" sz="975" dirty="0"/>
          </a:p>
        </p:txBody>
      </p:sp>
      <p:sp>
        <p:nvSpPr>
          <p:cNvPr id="116" name="Text 114"/>
          <p:cNvSpPr/>
          <p:nvPr/>
        </p:nvSpPr>
        <p:spPr>
          <a:xfrm>
            <a:off x="2076450" y="20022145"/>
            <a:ext cx="475238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 atendido (FK).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939105" y="20304770"/>
            <a:ext cx="104209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id_mecanico</a:t>
            </a:r>
            <a:endParaRPr lang="en-US" sz="975" dirty="0"/>
          </a:p>
        </p:txBody>
      </p:sp>
      <p:sp>
        <p:nvSpPr>
          <p:cNvPr id="118" name="Text 116"/>
          <p:cNvSpPr/>
          <p:nvPr/>
        </p:nvSpPr>
        <p:spPr>
          <a:xfrm>
            <a:off x="2076450" y="20304770"/>
            <a:ext cx="475238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Mecánico asignado (FK).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939105" y="20587395"/>
            <a:ext cx="104209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fecha_ingreso</a:t>
            </a:r>
            <a:endParaRPr lang="en-US" sz="975" dirty="0"/>
          </a:p>
        </p:txBody>
      </p:sp>
      <p:sp>
        <p:nvSpPr>
          <p:cNvPr id="120" name="Text 118"/>
          <p:cNvSpPr/>
          <p:nvPr/>
        </p:nvSpPr>
        <p:spPr>
          <a:xfrm>
            <a:off x="2076450" y="20587395"/>
            <a:ext cx="475238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en que el vehículo ingresó al taller.</a:t>
            </a:r>
            <a:endParaRPr lang="en-US" sz="1050" dirty="0"/>
          </a:p>
        </p:txBody>
      </p:sp>
      <p:sp>
        <p:nvSpPr>
          <p:cNvPr id="121" name="Text 119"/>
          <p:cNvSpPr/>
          <p:nvPr/>
        </p:nvSpPr>
        <p:spPr>
          <a:xfrm>
            <a:off x="939105" y="20870019"/>
            <a:ext cx="1042095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fecha_cierre</a:t>
            </a:r>
            <a:endParaRPr lang="en-US" sz="975" dirty="0"/>
          </a:p>
        </p:txBody>
      </p:sp>
      <p:sp>
        <p:nvSpPr>
          <p:cNvPr id="122" name="Text 120"/>
          <p:cNvSpPr/>
          <p:nvPr/>
        </p:nvSpPr>
        <p:spPr>
          <a:xfrm>
            <a:off x="2076450" y="20870019"/>
            <a:ext cx="4752389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en que se cerró y cobró la orden (NULL mientras está abierta).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939105" y="21152644"/>
            <a:ext cx="1042095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endParaRPr lang="en-US" sz="975" dirty="0"/>
          </a:p>
        </p:txBody>
      </p:sp>
      <p:sp>
        <p:nvSpPr>
          <p:cNvPr id="124" name="Text 122"/>
          <p:cNvSpPr/>
          <p:nvPr/>
        </p:nvSpPr>
        <p:spPr>
          <a:xfrm>
            <a:off x="2076450" y="21152644"/>
            <a:ext cx="4752389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</a:t>
            </a:r>
            <a:pPr algn="l" indent="0" marL="0">
              <a:lnSpc>
                <a:spcPct val="162000"/>
              </a:lnSpc>
              <a:buNone/>
            </a:pPr>
            <a:r>
              <a:rPr lang="en-US" sz="1050" b="1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'ABIERTA' </a:t>
            </a:r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62000"/>
              </a:lnSpc>
              <a:buNone/>
            </a:pPr>
            <a:r>
              <a:rPr lang="en-US" sz="1050" b="1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'CERRADA'</a:t>
            </a:r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777180" y="21635293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86705" y="21644818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86705" y="22062579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28" name="Text 126"/>
          <p:cNvSpPr/>
          <p:nvPr/>
        </p:nvSpPr>
        <p:spPr>
          <a:xfrm>
            <a:off x="939105" y="21749593"/>
            <a:ext cx="131072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DETALLE_SERVICIO</a:t>
            </a:r>
            <a:endParaRPr lang="en-US" sz="1013" dirty="0"/>
          </a:p>
        </p:txBody>
      </p:sp>
      <p:sp>
        <p:nvSpPr>
          <p:cNvPr id="129" name="Text 127"/>
          <p:cNvSpPr/>
          <p:nvPr/>
        </p:nvSpPr>
        <p:spPr>
          <a:xfrm>
            <a:off x="2268885" y="21753463"/>
            <a:ext cx="2008138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Servicios realizados en cada orden.</a:t>
            </a:r>
            <a:endParaRPr lang="en-US" sz="975" dirty="0"/>
          </a:p>
        </p:txBody>
      </p:sp>
      <p:sp>
        <p:nvSpPr>
          <p:cNvPr id="130" name="Shape 128"/>
          <p:cNvSpPr/>
          <p:nvPr/>
        </p:nvSpPr>
        <p:spPr>
          <a:xfrm>
            <a:off x="939105" y="22186404"/>
            <a:ext cx="1547813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34355" y="22224504"/>
            <a:ext cx="143351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id_detalle_servicio</a:t>
            </a:r>
            <a:endParaRPr lang="en-US" sz="938" dirty="0"/>
          </a:p>
        </p:txBody>
      </p:sp>
      <p:sp>
        <p:nvSpPr>
          <p:cNvPr id="132" name="Shape 130"/>
          <p:cNvSpPr/>
          <p:nvPr/>
        </p:nvSpPr>
        <p:spPr>
          <a:xfrm>
            <a:off x="2553593" y="22186404"/>
            <a:ext cx="76200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648843" y="22224504"/>
            <a:ext cx="6477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</a:t>
            </a:r>
            <a:endParaRPr lang="en-US" sz="938" dirty="0"/>
          </a:p>
        </p:txBody>
      </p:sp>
      <p:sp>
        <p:nvSpPr>
          <p:cNvPr id="134" name="Shape 132"/>
          <p:cNvSpPr/>
          <p:nvPr/>
        </p:nvSpPr>
        <p:spPr>
          <a:xfrm>
            <a:off x="3382268" y="22186404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477518" y="22224504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id_servicio</a:t>
            </a:r>
            <a:endParaRPr lang="en-US" sz="938" dirty="0"/>
          </a:p>
        </p:txBody>
      </p:sp>
      <p:sp>
        <p:nvSpPr>
          <p:cNvPr id="136" name="Shape 134"/>
          <p:cNvSpPr/>
          <p:nvPr/>
        </p:nvSpPr>
        <p:spPr>
          <a:xfrm>
            <a:off x="4425255" y="22186404"/>
            <a:ext cx="76200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520505" y="22224504"/>
            <a:ext cx="6477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938" dirty="0"/>
          </a:p>
        </p:txBody>
      </p:sp>
      <p:sp>
        <p:nvSpPr>
          <p:cNvPr id="138" name="Shape 136"/>
          <p:cNvSpPr/>
          <p:nvPr/>
        </p:nvSpPr>
        <p:spPr>
          <a:xfrm>
            <a:off x="777180" y="22712660"/>
            <a:ext cx="6075164" cy="944017"/>
          </a:xfrm>
          <a:prstGeom prst="roundRect">
            <a:avLst>
              <a:gd name="adj" fmla="val 6054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86705" y="22722185"/>
            <a:ext cx="6056114" cy="42728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86705" y="23139946"/>
            <a:ext cx="605611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141" name="Text 139"/>
          <p:cNvSpPr/>
          <p:nvPr/>
        </p:nvSpPr>
        <p:spPr>
          <a:xfrm>
            <a:off x="939105" y="22826960"/>
            <a:ext cx="1310729" cy="246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13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DETALLE_REPUESTO</a:t>
            </a:r>
            <a:endParaRPr lang="en-US" sz="1013" dirty="0"/>
          </a:p>
        </p:txBody>
      </p:sp>
      <p:sp>
        <p:nvSpPr>
          <p:cNvPr id="142" name="Text 140"/>
          <p:cNvSpPr/>
          <p:nvPr/>
        </p:nvSpPr>
        <p:spPr>
          <a:xfrm>
            <a:off x="2268885" y="22830830"/>
            <a:ext cx="1920180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787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Repuestos usados en cada orden.</a:t>
            </a:r>
            <a:endParaRPr lang="en-US" sz="975" dirty="0"/>
          </a:p>
        </p:txBody>
      </p:sp>
      <p:sp>
        <p:nvSpPr>
          <p:cNvPr id="143" name="Shape 141"/>
          <p:cNvSpPr/>
          <p:nvPr/>
        </p:nvSpPr>
        <p:spPr>
          <a:xfrm>
            <a:off x="939105" y="23263771"/>
            <a:ext cx="1547813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34355" y="23301871"/>
            <a:ext cx="143351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id_detalle_repuesto</a:t>
            </a:r>
            <a:endParaRPr lang="en-US" sz="938" dirty="0"/>
          </a:p>
        </p:txBody>
      </p:sp>
      <p:sp>
        <p:nvSpPr>
          <p:cNvPr id="145" name="Shape 143"/>
          <p:cNvSpPr/>
          <p:nvPr/>
        </p:nvSpPr>
        <p:spPr>
          <a:xfrm>
            <a:off x="2553593" y="23263771"/>
            <a:ext cx="76200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648843" y="23301871"/>
            <a:ext cx="6477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id_orden</a:t>
            </a:r>
            <a:endParaRPr lang="en-US" sz="938" dirty="0"/>
          </a:p>
        </p:txBody>
      </p:sp>
      <p:sp>
        <p:nvSpPr>
          <p:cNvPr id="147" name="Shape 145"/>
          <p:cNvSpPr/>
          <p:nvPr/>
        </p:nvSpPr>
        <p:spPr>
          <a:xfrm>
            <a:off x="3382268" y="23263771"/>
            <a:ext cx="976312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477518" y="23301871"/>
            <a:ext cx="862012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id_repuesto</a:t>
            </a:r>
            <a:endParaRPr lang="en-US" sz="938" dirty="0"/>
          </a:p>
        </p:txBody>
      </p:sp>
      <p:sp>
        <p:nvSpPr>
          <p:cNvPr id="149" name="Shape 147"/>
          <p:cNvSpPr/>
          <p:nvPr/>
        </p:nvSpPr>
        <p:spPr>
          <a:xfrm>
            <a:off x="4425255" y="23263771"/>
            <a:ext cx="76200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520505" y="23301871"/>
            <a:ext cx="6477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938" dirty="0"/>
          </a:p>
        </p:txBody>
      </p:sp>
      <p:sp>
        <p:nvSpPr>
          <p:cNvPr id="151" name="Shape 149"/>
          <p:cNvSpPr/>
          <p:nvPr/>
        </p:nvSpPr>
        <p:spPr>
          <a:xfrm>
            <a:off x="5253930" y="23263771"/>
            <a:ext cx="762000" cy="269081"/>
          </a:xfrm>
          <a:prstGeom prst="roundRect">
            <a:avLst>
              <a:gd name="adj" fmla="val 14159"/>
            </a:avLst>
          </a:prstGeom>
          <a:solidFill>
            <a:srgbClr val="F4F5F7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349180" y="23301871"/>
            <a:ext cx="64770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3D4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938" dirty="0"/>
          </a:p>
        </p:txBody>
      </p:sp>
      <p:sp>
        <p:nvSpPr>
          <p:cNvPr id="153" name="Text 151"/>
          <p:cNvSpPr/>
          <p:nvPr/>
        </p:nvSpPr>
        <p:spPr>
          <a:xfrm>
            <a:off x="777180" y="24171027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154" name="Text 152"/>
          <p:cNvSpPr/>
          <p:nvPr/>
        </p:nvSpPr>
        <p:spPr>
          <a:xfrm>
            <a:off x="1059210" y="24037677"/>
            <a:ext cx="27393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 de los índices</a:t>
            </a:r>
            <a:endParaRPr lang="en-US" sz="1875" dirty="0"/>
          </a:p>
        </p:txBody>
      </p:sp>
      <p:sp>
        <p:nvSpPr>
          <p:cNvPr id="155" name="Text 153"/>
          <p:cNvSpPr/>
          <p:nvPr/>
        </p:nvSpPr>
        <p:spPr>
          <a:xfrm>
            <a:off x="777180" y="24480589"/>
            <a:ext cx="6257419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no crea índices automáticamente para las claves foráneas, por lo que se definieron manualmente para optimizar las consultas más frecuentes del sistema.</a:t>
            </a:r>
            <a:endParaRPr lang="en-US" sz="1163" dirty="0"/>
          </a:p>
        </p:txBody>
      </p:sp>
      <p:sp>
        <p:nvSpPr>
          <p:cNvPr id="156" name="Shape 154"/>
          <p:cNvSpPr/>
          <p:nvPr/>
        </p:nvSpPr>
        <p:spPr>
          <a:xfrm>
            <a:off x="777180" y="25469701"/>
            <a:ext cx="6075164" cy="19050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157" name="Text 155"/>
          <p:cNvSpPr/>
          <p:nvPr/>
        </p:nvSpPr>
        <p:spPr>
          <a:xfrm>
            <a:off x="777180" y="25225623"/>
            <a:ext cx="2270373" cy="225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863" b="1" spc="60" kern="0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863" dirty="0"/>
          </a:p>
        </p:txBody>
      </p:sp>
      <p:sp>
        <p:nvSpPr>
          <p:cNvPr id="158" name="Text 156"/>
          <p:cNvSpPr/>
          <p:nvPr/>
        </p:nvSpPr>
        <p:spPr>
          <a:xfrm>
            <a:off x="3085654" y="25225623"/>
            <a:ext cx="3879692" cy="225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863" b="1" spc="60" kern="0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863" dirty="0"/>
          </a:p>
        </p:txBody>
      </p:sp>
      <p:sp>
        <p:nvSpPr>
          <p:cNvPr id="159" name="Shape 157"/>
          <p:cNvSpPr/>
          <p:nvPr/>
        </p:nvSpPr>
        <p:spPr>
          <a:xfrm>
            <a:off x="777180" y="25880913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60" name="Text 158"/>
          <p:cNvSpPr/>
          <p:nvPr/>
        </p:nvSpPr>
        <p:spPr>
          <a:xfrm>
            <a:off x="777180" y="25574476"/>
            <a:ext cx="2270373" cy="26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idx_cliente_apellidos</a:t>
            </a:r>
            <a:endParaRPr lang="en-US" sz="938" dirty="0"/>
          </a:p>
        </p:txBody>
      </p:sp>
      <p:sp>
        <p:nvSpPr>
          <p:cNvPr id="161" name="Text 159"/>
          <p:cNvSpPr/>
          <p:nvPr/>
        </p:nvSpPr>
        <p:spPr>
          <a:xfrm>
            <a:off x="3085654" y="25574476"/>
            <a:ext cx="3879692" cy="26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búsquedas de clientes por apellido.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777180" y="26277838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63" name="Text 161"/>
          <p:cNvSpPr/>
          <p:nvPr/>
        </p:nvSpPr>
        <p:spPr>
          <a:xfrm>
            <a:off x="777180" y="25976163"/>
            <a:ext cx="2270373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idx_vehiculo_cliente</a:t>
            </a:r>
            <a:endParaRPr lang="en-US" sz="938" dirty="0"/>
          </a:p>
        </p:txBody>
      </p:sp>
      <p:sp>
        <p:nvSpPr>
          <p:cNvPr id="164" name="Text 162"/>
          <p:cNvSpPr/>
          <p:nvPr/>
        </p:nvSpPr>
        <p:spPr>
          <a:xfrm>
            <a:off x="3085654" y="25976163"/>
            <a:ext cx="3879692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la búsqueda de vehículos pertenecientes a un cliente.</a:t>
            </a:r>
            <a:endParaRPr lang="en-US" sz="1050" dirty="0"/>
          </a:p>
        </p:txBody>
      </p:sp>
      <p:sp>
        <p:nvSpPr>
          <p:cNvPr id="165" name="Shape 163"/>
          <p:cNvSpPr/>
          <p:nvPr/>
        </p:nvSpPr>
        <p:spPr>
          <a:xfrm>
            <a:off x="777180" y="26890712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66" name="Text 164"/>
          <p:cNvSpPr/>
          <p:nvPr/>
        </p:nvSpPr>
        <p:spPr>
          <a:xfrm>
            <a:off x="777180" y="26373088"/>
            <a:ext cx="2270373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idx_orden_estado</a:t>
            </a:r>
            <a:endParaRPr lang="en-US" sz="938" dirty="0"/>
          </a:p>
        </p:txBody>
      </p:sp>
      <p:sp>
        <p:nvSpPr>
          <p:cNvPr id="167" name="Text 165"/>
          <p:cNvSpPr/>
          <p:nvPr/>
        </p:nvSpPr>
        <p:spPr>
          <a:xfrm>
            <a:off x="3085654" y="26373088"/>
            <a:ext cx="3879692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consultas que filtran órdenes por estado (ABIERTA/CERRADA).</a:t>
            </a:r>
            <a:endParaRPr lang="en-US" sz="1050" dirty="0"/>
          </a:p>
        </p:txBody>
      </p:sp>
      <p:sp>
        <p:nvSpPr>
          <p:cNvPr id="168" name="Shape 166"/>
          <p:cNvSpPr/>
          <p:nvPr/>
        </p:nvSpPr>
        <p:spPr>
          <a:xfrm>
            <a:off x="777180" y="27287637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69" name="Text 167"/>
          <p:cNvSpPr/>
          <p:nvPr/>
        </p:nvSpPr>
        <p:spPr>
          <a:xfrm>
            <a:off x="777180" y="26985962"/>
            <a:ext cx="2270373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idx_orden_vehiculo</a:t>
            </a:r>
            <a:endParaRPr lang="en-US" sz="938" dirty="0"/>
          </a:p>
        </p:txBody>
      </p:sp>
      <p:sp>
        <p:nvSpPr>
          <p:cNvPr id="170" name="Text 168"/>
          <p:cNvSpPr/>
          <p:nvPr/>
        </p:nvSpPr>
        <p:spPr>
          <a:xfrm>
            <a:off x="3085654" y="26985962"/>
            <a:ext cx="3879692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la consulta del historial de órdenes de un vehículo.</a:t>
            </a:r>
            <a:endParaRPr lang="en-US" sz="1050" dirty="0"/>
          </a:p>
        </p:txBody>
      </p:sp>
      <p:sp>
        <p:nvSpPr>
          <p:cNvPr id="171" name="Shape 169"/>
          <p:cNvSpPr/>
          <p:nvPr/>
        </p:nvSpPr>
        <p:spPr>
          <a:xfrm>
            <a:off x="777180" y="27900511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72" name="Text 170"/>
          <p:cNvSpPr/>
          <p:nvPr/>
        </p:nvSpPr>
        <p:spPr>
          <a:xfrm>
            <a:off x="777180" y="27382887"/>
            <a:ext cx="2270373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idx_orden_mecanico</a:t>
            </a:r>
            <a:endParaRPr lang="en-US" sz="938" dirty="0"/>
          </a:p>
        </p:txBody>
      </p:sp>
      <p:sp>
        <p:nvSpPr>
          <p:cNvPr id="173" name="Text 171"/>
          <p:cNvSpPr/>
          <p:nvPr/>
        </p:nvSpPr>
        <p:spPr>
          <a:xfrm>
            <a:off x="3085654" y="27382887"/>
            <a:ext cx="3879692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la búsqueda de órdenes por mecánico y el control del límite de órdenes abiertas.</a:t>
            </a:r>
            <a:endParaRPr lang="en-US" sz="1050" dirty="0"/>
          </a:p>
        </p:txBody>
      </p:sp>
      <p:sp>
        <p:nvSpPr>
          <p:cNvPr id="174" name="Shape 172"/>
          <p:cNvSpPr/>
          <p:nvPr/>
        </p:nvSpPr>
        <p:spPr>
          <a:xfrm>
            <a:off x="777180" y="28297436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75" name="Text 173"/>
          <p:cNvSpPr/>
          <p:nvPr/>
        </p:nvSpPr>
        <p:spPr>
          <a:xfrm>
            <a:off x="777180" y="27995761"/>
            <a:ext cx="2270373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idx_detalle_servicio</a:t>
            </a:r>
            <a:endParaRPr lang="en-US" sz="938" dirty="0"/>
          </a:p>
        </p:txBody>
      </p:sp>
      <p:sp>
        <p:nvSpPr>
          <p:cNvPr id="176" name="Text 174"/>
          <p:cNvSpPr/>
          <p:nvPr/>
        </p:nvSpPr>
        <p:spPr>
          <a:xfrm>
            <a:off x="3085654" y="27995761"/>
            <a:ext cx="3879692" cy="26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consultas entre órdenes y servicios al calcular totales.</a:t>
            </a:r>
            <a:endParaRPr lang="en-US" sz="1050" dirty="0"/>
          </a:p>
        </p:txBody>
      </p:sp>
      <p:sp>
        <p:nvSpPr>
          <p:cNvPr id="177" name="Shape 175"/>
          <p:cNvSpPr/>
          <p:nvPr/>
        </p:nvSpPr>
        <p:spPr>
          <a:xfrm>
            <a:off x="777180" y="28910310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178" name="Text 176"/>
          <p:cNvSpPr/>
          <p:nvPr/>
        </p:nvSpPr>
        <p:spPr>
          <a:xfrm>
            <a:off x="777180" y="28392686"/>
            <a:ext cx="2270373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idx_detalle_repuesto</a:t>
            </a:r>
            <a:endParaRPr lang="en-US" sz="938" dirty="0"/>
          </a:p>
        </p:txBody>
      </p:sp>
      <p:sp>
        <p:nvSpPr>
          <p:cNvPr id="179" name="Text 177"/>
          <p:cNvSpPr/>
          <p:nvPr/>
        </p:nvSpPr>
        <p:spPr>
          <a:xfrm>
            <a:off x="3085654" y="28392686"/>
            <a:ext cx="3879692" cy="47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el cálculo del total de repuestos por orden (frecuente en </a:t>
            </a:r>
            <a:pPr algn="l" indent="0" marL="0">
              <a:lnSpc>
                <a:spcPct val="162000"/>
              </a:lnSpc>
              <a:buNone/>
            </a:pPr>
            <a:r>
              <a:rPr lang="en-US" sz="900" dirty="0">
                <a:solidFill>
                  <a:srgbClr val="4B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sp_calcular_orden</a:t>
            </a:r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050" dirty="0"/>
          </a:p>
        </p:txBody>
      </p:sp>
      <p:sp>
        <p:nvSpPr>
          <p:cNvPr id="180" name="Text 178"/>
          <p:cNvSpPr/>
          <p:nvPr/>
        </p:nvSpPr>
        <p:spPr>
          <a:xfrm>
            <a:off x="777180" y="29005560"/>
            <a:ext cx="2270373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idx_repuesto_nombre</a:t>
            </a:r>
            <a:endParaRPr lang="en-US" sz="938" dirty="0"/>
          </a:p>
        </p:txBody>
      </p:sp>
      <p:sp>
        <p:nvSpPr>
          <p:cNvPr id="181" name="Text 179"/>
          <p:cNvSpPr/>
          <p:nvPr/>
        </p:nvSpPr>
        <p:spPr>
          <a:xfrm>
            <a:off x="3085654" y="29005560"/>
            <a:ext cx="3879692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búsquedas de repuestos por nombre en consultas de inventario.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777180" y="30042296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183" name="Text 181"/>
          <p:cNvSpPr/>
          <p:nvPr/>
        </p:nvSpPr>
        <p:spPr>
          <a:xfrm>
            <a:off x="1059210" y="29908946"/>
            <a:ext cx="25827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 de las vistas</a:t>
            </a:r>
            <a:endParaRPr lang="en-US" sz="1875" dirty="0"/>
          </a:p>
        </p:txBody>
      </p:sp>
      <p:sp>
        <p:nvSpPr>
          <p:cNvPr id="184" name="Shape 182"/>
          <p:cNvSpPr/>
          <p:nvPr/>
        </p:nvSpPr>
        <p:spPr>
          <a:xfrm>
            <a:off x="777180" y="30466159"/>
            <a:ext cx="6075164" cy="10413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777180" y="30466159"/>
            <a:ext cx="28575" cy="1041350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186" name="Text 184"/>
          <p:cNvSpPr/>
          <p:nvPr/>
        </p:nvSpPr>
        <p:spPr>
          <a:xfrm>
            <a:off x="977205" y="30628084"/>
            <a:ext cx="15842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v_ordenes_abiertas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977205" y="30895826"/>
            <a:ext cx="58748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todas las órdenes en estado ABIERTA, incluyendo fecha de ingreso, placa, marca y modelo del vehículo, y nombre del mecánico asignado.</a:t>
            </a:r>
            <a:endParaRPr lang="en-US" sz="1163" dirty="0"/>
          </a:p>
        </p:txBody>
      </p:sp>
      <p:sp>
        <p:nvSpPr>
          <p:cNvPr id="188" name="Shape 186"/>
          <p:cNvSpPr/>
          <p:nvPr/>
        </p:nvSpPr>
        <p:spPr>
          <a:xfrm>
            <a:off x="777180" y="31621809"/>
            <a:ext cx="6075164" cy="10413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9" name="Shape 187"/>
          <p:cNvSpPr/>
          <p:nvPr/>
        </p:nvSpPr>
        <p:spPr>
          <a:xfrm>
            <a:off x="777180" y="31621809"/>
            <a:ext cx="28575" cy="1041350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190" name="Text 188"/>
          <p:cNvSpPr/>
          <p:nvPr/>
        </p:nvSpPr>
        <p:spPr>
          <a:xfrm>
            <a:off x="977205" y="31783734"/>
            <a:ext cx="1936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v_repuestos_stock_bajo</a:t>
            </a:r>
            <a:endParaRPr lang="en-US" sz="1050" dirty="0"/>
          </a:p>
        </p:txBody>
      </p:sp>
      <p:sp>
        <p:nvSpPr>
          <p:cNvPr id="191" name="Text 189"/>
          <p:cNvSpPr/>
          <p:nvPr/>
        </p:nvSpPr>
        <p:spPr>
          <a:xfrm>
            <a:off x="977205" y="32051476"/>
            <a:ext cx="58748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repuestos cuyo stock actual es menor al stock mínimo, incluyendo la cantidad de unidades que falta para alcanzar el mínimo.</a:t>
            </a:r>
            <a:endParaRPr lang="en-US" sz="1163" dirty="0"/>
          </a:p>
        </p:txBody>
      </p:sp>
      <p:sp>
        <p:nvSpPr>
          <p:cNvPr id="192" name="Shape 190"/>
          <p:cNvSpPr/>
          <p:nvPr/>
        </p:nvSpPr>
        <p:spPr>
          <a:xfrm>
            <a:off x="777180" y="32777460"/>
            <a:ext cx="6075164" cy="104135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77180" y="32777460"/>
            <a:ext cx="28575" cy="1041350"/>
          </a:xfrm>
          <a:prstGeom prst="rect">
            <a:avLst/>
          </a:prstGeom>
          <a:solidFill>
            <a:srgbClr val="16243A"/>
          </a:solidFill>
          <a:ln/>
        </p:spPr>
      </p:sp>
      <p:sp>
        <p:nvSpPr>
          <p:cNvPr id="194" name="Text 192"/>
          <p:cNvSpPr/>
          <p:nvPr/>
        </p:nvSpPr>
        <p:spPr>
          <a:xfrm>
            <a:off x="977205" y="32939385"/>
            <a:ext cx="18482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050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v_clientes_frecuentes</a:t>
            </a:r>
            <a:endParaRPr lang="en-US" sz="1050" dirty="0"/>
          </a:p>
        </p:txBody>
      </p:sp>
      <p:sp>
        <p:nvSpPr>
          <p:cNvPr id="195" name="Text 193"/>
          <p:cNvSpPr/>
          <p:nvPr/>
        </p:nvSpPr>
        <p:spPr>
          <a:xfrm>
            <a:off x="977205" y="33207127"/>
            <a:ext cx="58748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clientes con 2 o más órdenes de servicio registradas, ordenados de mayor a menor cantidad de visitas.</a:t>
            </a:r>
            <a:endParaRPr lang="en-US" sz="1163" dirty="0"/>
          </a:p>
        </p:txBody>
      </p:sp>
      <p:sp>
        <p:nvSpPr>
          <p:cNvPr id="196" name="Text 194"/>
          <p:cNvSpPr/>
          <p:nvPr/>
        </p:nvSpPr>
        <p:spPr>
          <a:xfrm>
            <a:off x="777180" y="34333160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197" name="Text 195"/>
          <p:cNvSpPr/>
          <p:nvPr/>
        </p:nvSpPr>
        <p:spPr>
          <a:xfrm>
            <a:off x="1059210" y="34199810"/>
            <a:ext cx="310556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Procedimientos almacenados</a:t>
            </a:r>
            <a:endParaRPr lang="en-US" sz="1875" dirty="0"/>
          </a:p>
        </p:txBody>
      </p:sp>
      <p:sp>
        <p:nvSpPr>
          <p:cNvPr id="198" name="Text 196"/>
          <p:cNvSpPr/>
          <p:nvPr/>
        </p:nvSpPr>
        <p:spPr>
          <a:xfrm>
            <a:off x="777180" y="34642723"/>
            <a:ext cx="6257419" cy="525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cuenta con </a:t>
            </a:r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procedimientos almacenados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que devuelven conjuntos de datos utilizan un parámetro OUT de tipo </a:t>
            </a:r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SYS_REFCURSOR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3" dirty="0"/>
          </a:p>
        </p:txBody>
      </p:sp>
      <p:sp>
        <p:nvSpPr>
          <p:cNvPr id="199" name="Shape 197"/>
          <p:cNvSpPr/>
          <p:nvPr/>
        </p:nvSpPr>
        <p:spPr>
          <a:xfrm>
            <a:off x="777180" y="35321081"/>
            <a:ext cx="6075164" cy="9525"/>
          </a:xfrm>
          <a:prstGeom prst="rect">
            <a:avLst/>
          </a:prstGeom>
          <a:solidFill>
            <a:srgbClr val="E2E4E8"/>
          </a:solidFill>
          <a:ln/>
        </p:spPr>
      </p:sp>
      <p:sp>
        <p:nvSpPr>
          <p:cNvPr id="200" name="Shape 198"/>
          <p:cNvSpPr/>
          <p:nvPr/>
        </p:nvSpPr>
        <p:spPr>
          <a:xfrm>
            <a:off x="777180" y="36037540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01" name="Text 199"/>
          <p:cNvSpPr/>
          <p:nvPr/>
        </p:nvSpPr>
        <p:spPr>
          <a:xfrm>
            <a:off x="777180" y="35444906"/>
            <a:ext cx="19812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sp_registrar_cliente</a:t>
            </a:r>
            <a:endParaRPr lang="en-US" sz="975" dirty="0"/>
          </a:p>
        </p:txBody>
      </p:sp>
      <p:sp>
        <p:nvSpPr>
          <p:cNvPr id="202" name="Text 200"/>
          <p:cNvSpPr/>
          <p:nvPr/>
        </p:nvSpPr>
        <p:spPr>
          <a:xfrm>
            <a:off x="2853630" y="35444906"/>
            <a:ext cx="4118675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 un nuevo cliente y retorna el ID generado y un mensaje de confirmación.</a:t>
            </a:r>
            <a:endParaRPr lang="en-US" sz="1163" dirty="0"/>
          </a:p>
        </p:txBody>
      </p:sp>
      <p:sp>
        <p:nvSpPr>
          <p:cNvPr id="203" name="Shape 201"/>
          <p:cNvSpPr/>
          <p:nvPr/>
        </p:nvSpPr>
        <p:spPr>
          <a:xfrm>
            <a:off x="777180" y="36993165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04" name="Text 202"/>
          <p:cNvSpPr/>
          <p:nvPr/>
        </p:nvSpPr>
        <p:spPr>
          <a:xfrm>
            <a:off x="777180" y="36161365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sp_registrar_vehiculo</a:t>
            </a:r>
            <a:endParaRPr lang="en-US" sz="975" dirty="0"/>
          </a:p>
        </p:txBody>
      </p:sp>
      <p:sp>
        <p:nvSpPr>
          <p:cNvPr id="205" name="Text 203"/>
          <p:cNvSpPr/>
          <p:nvPr/>
        </p:nvSpPr>
        <p:spPr>
          <a:xfrm>
            <a:off x="2853630" y="36161365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un vehículo verificando previamente que el cliente exista. Controla placa duplicada mediante manejo de </a:t>
            </a:r>
            <a:pPr algn="l" indent="0" marL="0">
              <a:lnSpc>
                <a:spcPct val="162000"/>
              </a:lnSpc>
              <a:buNone/>
            </a:pPr>
            <a:r>
              <a:rPr lang="en-US" sz="900" dirty="0">
                <a:solidFill>
                  <a:srgbClr val="4B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DUP_VAL_ON_INDEX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3" dirty="0"/>
          </a:p>
        </p:txBody>
      </p:sp>
      <p:sp>
        <p:nvSpPr>
          <p:cNvPr id="206" name="Shape 204"/>
          <p:cNvSpPr/>
          <p:nvPr/>
        </p:nvSpPr>
        <p:spPr>
          <a:xfrm>
            <a:off x="777180" y="37948791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07" name="Text 205"/>
          <p:cNvSpPr/>
          <p:nvPr/>
        </p:nvSpPr>
        <p:spPr>
          <a:xfrm>
            <a:off x="777180" y="37116990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sp_abrir_orden</a:t>
            </a:r>
            <a:endParaRPr lang="en-US" sz="975" dirty="0"/>
          </a:p>
        </p:txBody>
      </p:sp>
      <p:sp>
        <p:nvSpPr>
          <p:cNvPr id="208" name="Text 206"/>
          <p:cNvSpPr/>
          <p:nvPr/>
        </p:nvSpPr>
        <p:spPr>
          <a:xfrm>
            <a:off x="2853630" y="37116990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nueva orden de servicio con un primer servicio incluido. Valida que existan el vehículo, el mecánico y el servicio. Aplica un límite de 3 órdenes abiertas por mecánico.</a:t>
            </a:r>
            <a:endParaRPr lang="en-US" sz="1163" dirty="0"/>
          </a:p>
        </p:txBody>
      </p:sp>
      <p:sp>
        <p:nvSpPr>
          <p:cNvPr id="209" name="Shape 207"/>
          <p:cNvSpPr/>
          <p:nvPr/>
        </p:nvSpPr>
        <p:spPr>
          <a:xfrm>
            <a:off x="777180" y="38665249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10" name="Text 208"/>
          <p:cNvSpPr/>
          <p:nvPr/>
        </p:nvSpPr>
        <p:spPr>
          <a:xfrm>
            <a:off x="777180" y="38072616"/>
            <a:ext cx="19812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sp_agregar_servicio</a:t>
            </a:r>
            <a:endParaRPr lang="en-US" sz="975" dirty="0"/>
          </a:p>
        </p:txBody>
      </p:sp>
      <p:sp>
        <p:nvSpPr>
          <p:cNvPr id="211" name="Text 209"/>
          <p:cNvSpPr/>
          <p:nvPr/>
        </p:nvSpPr>
        <p:spPr>
          <a:xfrm>
            <a:off x="2853630" y="38072616"/>
            <a:ext cx="4118675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un servicio adicional a una orden existente. Valida que la orden exista y esté en estado ABIERTA antes de insertar el detalle.</a:t>
            </a:r>
            <a:endParaRPr lang="en-US" sz="1163" dirty="0"/>
          </a:p>
        </p:txBody>
      </p:sp>
      <p:sp>
        <p:nvSpPr>
          <p:cNvPr id="212" name="Shape 210"/>
          <p:cNvSpPr/>
          <p:nvPr/>
        </p:nvSpPr>
        <p:spPr>
          <a:xfrm>
            <a:off x="777180" y="39860041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13" name="Text 211"/>
          <p:cNvSpPr/>
          <p:nvPr/>
        </p:nvSpPr>
        <p:spPr>
          <a:xfrm>
            <a:off x="777180" y="38789074"/>
            <a:ext cx="1981200" cy="994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sp_agregar_repuestos</a:t>
            </a:r>
            <a:endParaRPr lang="en-US" sz="975" dirty="0"/>
          </a:p>
        </p:txBody>
      </p:sp>
      <p:sp>
        <p:nvSpPr>
          <p:cNvPr id="214" name="Text 212"/>
          <p:cNvSpPr/>
          <p:nvPr/>
        </p:nvSpPr>
        <p:spPr>
          <a:xfrm>
            <a:off x="2853630" y="38789074"/>
            <a:ext cx="4118675" cy="994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un repuesto a una orden verificando stock disponible. Usa </a:t>
            </a:r>
            <a:pPr algn="l" indent="0" marL="0">
              <a:lnSpc>
                <a:spcPct val="162000"/>
              </a:lnSpc>
              <a:buNone/>
            </a:pPr>
            <a:r>
              <a:rPr lang="en-US" sz="900" dirty="0">
                <a:solidFill>
                  <a:srgbClr val="4B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FOR UPDATE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evitar problemas de concurrencia, descuenta el inventario y registra el precio histórico al momento del uso.</a:t>
            </a:r>
            <a:endParaRPr lang="en-US" sz="1163" dirty="0"/>
          </a:p>
        </p:txBody>
      </p:sp>
      <p:sp>
        <p:nvSpPr>
          <p:cNvPr id="215" name="Shape 213"/>
          <p:cNvSpPr/>
          <p:nvPr/>
        </p:nvSpPr>
        <p:spPr>
          <a:xfrm>
            <a:off x="777180" y="40576500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16" name="Text 214"/>
          <p:cNvSpPr/>
          <p:nvPr/>
        </p:nvSpPr>
        <p:spPr>
          <a:xfrm>
            <a:off x="777180" y="39983866"/>
            <a:ext cx="19812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sp_calcular_orden</a:t>
            </a:r>
            <a:endParaRPr lang="en-US" sz="975" dirty="0"/>
          </a:p>
        </p:txBody>
      </p:sp>
      <p:sp>
        <p:nvSpPr>
          <p:cNvPr id="217" name="Text 215"/>
          <p:cNvSpPr/>
          <p:nvPr/>
        </p:nvSpPr>
        <p:spPr>
          <a:xfrm>
            <a:off x="2853630" y="39983866"/>
            <a:ext cx="4118675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total de una orden sumando los subtotales de servicios y repuestos. Retorna -1 si la orden no existe.</a:t>
            </a:r>
            <a:endParaRPr lang="en-US" sz="1163" dirty="0"/>
          </a:p>
        </p:txBody>
      </p:sp>
      <p:sp>
        <p:nvSpPr>
          <p:cNvPr id="218" name="Shape 216"/>
          <p:cNvSpPr/>
          <p:nvPr/>
        </p:nvSpPr>
        <p:spPr>
          <a:xfrm>
            <a:off x="777180" y="41292959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19" name="Text 217"/>
          <p:cNvSpPr/>
          <p:nvPr/>
        </p:nvSpPr>
        <p:spPr>
          <a:xfrm>
            <a:off x="777180" y="40700325"/>
            <a:ext cx="19812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sp_cerrar_orden</a:t>
            </a:r>
            <a:endParaRPr lang="en-US" sz="975" dirty="0"/>
          </a:p>
        </p:txBody>
      </p:sp>
      <p:sp>
        <p:nvSpPr>
          <p:cNvPr id="220" name="Text 218"/>
          <p:cNvSpPr/>
          <p:nvPr/>
        </p:nvSpPr>
        <p:spPr>
          <a:xfrm>
            <a:off x="2853630" y="40700325"/>
            <a:ext cx="4118675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que la orden exista y esté ABIERTA, calcula el total, registra la fecha de cierre y cambia el estado a CERRADA.</a:t>
            </a:r>
            <a:endParaRPr lang="en-US" sz="1163" dirty="0"/>
          </a:p>
        </p:txBody>
      </p:sp>
      <p:sp>
        <p:nvSpPr>
          <p:cNvPr id="221" name="Shape 219"/>
          <p:cNvSpPr/>
          <p:nvPr/>
        </p:nvSpPr>
        <p:spPr>
          <a:xfrm>
            <a:off x="777180" y="42248584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22" name="Text 220"/>
          <p:cNvSpPr/>
          <p:nvPr/>
        </p:nvSpPr>
        <p:spPr>
          <a:xfrm>
            <a:off x="777180" y="41416784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sp_cierre_del_dia</a:t>
            </a:r>
            <a:endParaRPr lang="en-US" sz="975" dirty="0"/>
          </a:p>
        </p:txBody>
      </p:sp>
      <p:sp>
        <p:nvSpPr>
          <p:cNvPr id="223" name="Text 221"/>
          <p:cNvSpPr/>
          <p:nvPr/>
        </p:nvSpPr>
        <p:spPr>
          <a:xfrm>
            <a:off x="2853630" y="41416784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total facturado en una fecha determinada sumando las órdenes cuya fecha de cierre corresponde a ese día. Utiliza cursor implícito con FOR.</a:t>
            </a:r>
            <a:endParaRPr lang="en-US" sz="1163" dirty="0"/>
          </a:p>
        </p:txBody>
      </p:sp>
      <p:sp>
        <p:nvSpPr>
          <p:cNvPr id="224" name="Shape 222"/>
          <p:cNvSpPr/>
          <p:nvPr/>
        </p:nvSpPr>
        <p:spPr>
          <a:xfrm>
            <a:off x="777180" y="43204209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25" name="Text 223"/>
          <p:cNvSpPr/>
          <p:nvPr/>
        </p:nvSpPr>
        <p:spPr>
          <a:xfrm>
            <a:off x="777180" y="42372409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sp_validar_stock</a:t>
            </a:r>
            <a:endParaRPr lang="en-US" sz="975" dirty="0"/>
          </a:p>
        </p:txBody>
      </p:sp>
      <p:sp>
        <p:nvSpPr>
          <p:cNvPr id="226" name="Text 224"/>
          <p:cNvSpPr/>
          <p:nvPr/>
        </p:nvSpPr>
        <p:spPr>
          <a:xfrm>
            <a:off x="2853630" y="42372409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si hay stock suficiente de un repuesto para una cantidad solicitada. Retorna el stock actual y el estado DISPONIBLE, NO DISPONIBLE o REPUESTO NO EXISTE.</a:t>
            </a:r>
            <a:endParaRPr lang="en-US" sz="1163" dirty="0"/>
          </a:p>
        </p:txBody>
      </p:sp>
      <p:sp>
        <p:nvSpPr>
          <p:cNvPr id="227" name="Shape 225"/>
          <p:cNvSpPr/>
          <p:nvPr/>
        </p:nvSpPr>
        <p:spPr>
          <a:xfrm>
            <a:off x="777180" y="44159835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28" name="Text 226"/>
          <p:cNvSpPr/>
          <p:nvPr/>
        </p:nvSpPr>
        <p:spPr>
          <a:xfrm>
            <a:off x="777180" y="43328034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sp_historial_vehiculo</a:t>
            </a:r>
            <a:endParaRPr lang="en-US" sz="975" dirty="0"/>
          </a:p>
        </p:txBody>
      </p:sp>
      <p:sp>
        <p:nvSpPr>
          <p:cNvPr id="229" name="Text 227"/>
          <p:cNvSpPr/>
          <p:nvPr/>
        </p:nvSpPr>
        <p:spPr>
          <a:xfrm>
            <a:off x="2853630" y="43328034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mediante SYS_REFCURSOR el historial completo de órdenes de un vehículo, con fechas, mecánico asignado y total cobrado por cada orden.</a:t>
            </a:r>
            <a:endParaRPr lang="en-US" sz="1163" dirty="0"/>
          </a:p>
        </p:txBody>
      </p:sp>
      <p:sp>
        <p:nvSpPr>
          <p:cNvPr id="230" name="Shape 228"/>
          <p:cNvSpPr/>
          <p:nvPr/>
        </p:nvSpPr>
        <p:spPr>
          <a:xfrm>
            <a:off x="777180" y="45115460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31" name="Text 229"/>
          <p:cNvSpPr/>
          <p:nvPr/>
        </p:nvSpPr>
        <p:spPr>
          <a:xfrm>
            <a:off x="777180" y="44283660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sp_listar_reposicion</a:t>
            </a:r>
            <a:endParaRPr lang="en-US" sz="975" dirty="0"/>
          </a:p>
        </p:txBody>
      </p:sp>
      <p:sp>
        <p:nvSpPr>
          <p:cNvPr id="232" name="Text 230"/>
          <p:cNvSpPr/>
          <p:nvPr/>
        </p:nvSpPr>
        <p:spPr>
          <a:xfrm>
            <a:off x="2853630" y="44283660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los repuestos con stock por debajo del mínimo, ordenados por urgencia (mayor déficit primero), con la cantidad de unidades a reponer.</a:t>
            </a:r>
            <a:endParaRPr lang="en-US" sz="1163" dirty="0"/>
          </a:p>
        </p:txBody>
      </p:sp>
      <p:sp>
        <p:nvSpPr>
          <p:cNvPr id="233" name="Shape 231"/>
          <p:cNvSpPr/>
          <p:nvPr/>
        </p:nvSpPr>
        <p:spPr>
          <a:xfrm>
            <a:off x="777180" y="46071086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34" name="Text 232"/>
          <p:cNvSpPr/>
          <p:nvPr/>
        </p:nvSpPr>
        <p:spPr>
          <a:xfrm>
            <a:off x="777180" y="45239285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sp_reporte_servicios_top</a:t>
            </a:r>
            <a:endParaRPr lang="en-US" sz="975" dirty="0"/>
          </a:p>
        </p:txBody>
      </p:sp>
      <p:sp>
        <p:nvSpPr>
          <p:cNvPr id="235" name="Text 233"/>
          <p:cNvSpPr/>
          <p:nvPr/>
        </p:nvSpPr>
        <p:spPr>
          <a:xfrm>
            <a:off x="2853630" y="45239285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el ranking de los N servicios más solicitados (parámetro </a:t>
            </a:r>
            <a:pPr algn="l" indent="0" marL="0">
              <a:lnSpc>
                <a:spcPct val="162000"/>
              </a:lnSpc>
              <a:buNone/>
            </a:pPr>
            <a:r>
              <a:rPr lang="en-US" sz="900" dirty="0">
                <a:solidFill>
                  <a:srgbClr val="4B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p_limite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por defecto 10), mostrando veces solicitado e ingresos generados.</a:t>
            </a:r>
            <a:endParaRPr lang="en-US" sz="1163" dirty="0"/>
          </a:p>
        </p:txBody>
      </p:sp>
      <p:sp>
        <p:nvSpPr>
          <p:cNvPr id="236" name="Shape 234"/>
          <p:cNvSpPr/>
          <p:nvPr/>
        </p:nvSpPr>
        <p:spPr>
          <a:xfrm>
            <a:off x="777180" y="46787544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37" name="Text 235"/>
          <p:cNvSpPr/>
          <p:nvPr/>
        </p:nvSpPr>
        <p:spPr>
          <a:xfrm>
            <a:off x="777180" y="46194911"/>
            <a:ext cx="198120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sp_reporte_mecanicos</a:t>
            </a:r>
            <a:endParaRPr lang="en-US" sz="975" dirty="0"/>
          </a:p>
        </p:txBody>
      </p:sp>
      <p:sp>
        <p:nvSpPr>
          <p:cNvPr id="238" name="Text 236"/>
          <p:cNvSpPr/>
          <p:nvPr/>
        </p:nvSpPr>
        <p:spPr>
          <a:xfrm>
            <a:off x="2853630" y="46194911"/>
            <a:ext cx="4118675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el desempeño de cada mecánico: especialidad, número de órdenes cerradas atendidas e ingresos generados.</a:t>
            </a:r>
            <a:endParaRPr lang="en-US" sz="1163" dirty="0"/>
          </a:p>
        </p:txBody>
      </p:sp>
      <p:sp>
        <p:nvSpPr>
          <p:cNvPr id="239" name="Shape 237"/>
          <p:cNvSpPr/>
          <p:nvPr/>
        </p:nvSpPr>
        <p:spPr>
          <a:xfrm>
            <a:off x="777180" y="47743170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40" name="Text 238"/>
          <p:cNvSpPr/>
          <p:nvPr/>
        </p:nvSpPr>
        <p:spPr>
          <a:xfrm>
            <a:off x="777180" y="46911369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sp_actualizar_precios</a:t>
            </a:r>
            <a:endParaRPr lang="en-US" sz="975" dirty="0"/>
          </a:p>
        </p:txBody>
      </p:sp>
      <p:sp>
        <p:nvSpPr>
          <p:cNvPr id="241" name="Text 239"/>
          <p:cNvSpPr/>
          <p:nvPr/>
        </p:nvSpPr>
        <p:spPr>
          <a:xfrm>
            <a:off x="2853630" y="46911369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un porcentaje de ajuste al precio de todos los servicios del catálogo. Valida que el porcentaje esté entre -99 y 200 para evitar precios nulos, negativos o desproporcionados.</a:t>
            </a:r>
            <a:endParaRPr lang="en-US" sz="1163" dirty="0"/>
          </a:p>
        </p:txBody>
      </p:sp>
      <p:sp>
        <p:nvSpPr>
          <p:cNvPr id="242" name="Shape 240"/>
          <p:cNvSpPr/>
          <p:nvPr/>
        </p:nvSpPr>
        <p:spPr>
          <a:xfrm>
            <a:off x="777180" y="48698795"/>
            <a:ext cx="6075164" cy="9525"/>
          </a:xfrm>
          <a:prstGeom prst="rect">
            <a:avLst/>
          </a:prstGeom>
          <a:solidFill>
            <a:srgbClr val="ECECEF"/>
          </a:solidFill>
          <a:ln/>
        </p:spPr>
      </p:sp>
      <p:sp>
        <p:nvSpPr>
          <p:cNvPr id="243" name="Text 241"/>
          <p:cNvSpPr/>
          <p:nvPr/>
        </p:nvSpPr>
        <p:spPr>
          <a:xfrm>
            <a:off x="777180" y="47866995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sp_clientes_frecuentes</a:t>
            </a:r>
            <a:endParaRPr lang="en-US" sz="975" dirty="0"/>
          </a:p>
        </p:txBody>
      </p:sp>
      <p:sp>
        <p:nvSpPr>
          <p:cNvPr id="244" name="Text 242"/>
          <p:cNvSpPr/>
          <p:nvPr/>
        </p:nvSpPr>
        <p:spPr>
          <a:xfrm>
            <a:off x="2853630" y="47866995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los clientes que superan un umbral mínimo de órdenes (parámetro </a:t>
            </a:r>
            <a:pPr algn="l" indent="0" marL="0">
              <a:lnSpc>
                <a:spcPct val="162000"/>
              </a:lnSpc>
              <a:buNone/>
            </a:pPr>
            <a:r>
              <a:rPr lang="en-US" sz="900" dirty="0">
                <a:solidFill>
                  <a:srgbClr val="4B5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p_min_ordenes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por defecto 2), ordenados de mayor a menor fidelidad.</a:t>
            </a:r>
            <a:endParaRPr lang="en-US" sz="1163" dirty="0"/>
          </a:p>
        </p:txBody>
      </p:sp>
      <p:sp>
        <p:nvSpPr>
          <p:cNvPr id="245" name="Text 243"/>
          <p:cNvSpPr/>
          <p:nvPr/>
        </p:nvSpPr>
        <p:spPr>
          <a:xfrm>
            <a:off x="777180" y="48822620"/>
            <a:ext cx="198120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sp_consumo_repuestos</a:t>
            </a:r>
            <a:endParaRPr lang="en-US" sz="975" dirty="0"/>
          </a:p>
        </p:txBody>
      </p:sp>
      <p:sp>
        <p:nvSpPr>
          <p:cNvPr id="246" name="Text 244"/>
          <p:cNvSpPr/>
          <p:nvPr/>
        </p:nvSpPr>
        <p:spPr>
          <a:xfrm>
            <a:off x="2853630" y="48822620"/>
            <a:ext cx="4118675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total de unidades de repuestos consumidas en todas las órdenes mediante una consulta directa con SUM, sin necesidad de cursor.</a:t>
            </a:r>
            <a:endParaRPr lang="en-US" sz="1163" dirty="0"/>
          </a:p>
        </p:txBody>
      </p:sp>
      <p:sp>
        <p:nvSpPr>
          <p:cNvPr id="247" name="Text 245"/>
          <p:cNvSpPr/>
          <p:nvPr/>
        </p:nvSpPr>
        <p:spPr>
          <a:xfrm>
            <a:off x="777180" y="50168770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75" dirty="0"/>
          </a:p>
        </p:txBody>
      </p:sp>
      <p:sp>
        <p:nvSpPr>
          <p:cNvPr id="248" name="Text 246"/>
          <p:cNvSpPr/>
          <p:nvPr/>
        </p:nvSpPr>
        <p:spPr>
          <a:xfrm>
            <a:off x="1059210" y="50035420"/>
            <a:ext cx="1708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de cursores</a:t>
            </a:r>
            <a:endParaRPr lang="en-US" sz="1875" dirty="0"/>
          </a:p>
        </p:txBody>
      </p:sp>
      <p:sp>
        <p:nvSpPr>
          <p:cNvPr id="249" name="Text 247"/>
          <p:cNvSpPr/>
          <p:nvPr/>
        </p:nvSpPr>
        <p:spPr>
          <a:xfrm>
            <a:off x="777180" y="50592633"/>
            <a:ext cx="6257419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5B63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utiliza distintas estrategias de recuperación de datos según la necesidad de cada procedimiento.</a:t>
            </a:r>
            <a:endParaRPr lang="en-US" sz="1163" dirty="0"/>
          </a:p>
        </p:txBody>
      </p:sp>
      <p:sp>
        <p:nvSpPr>
          <p:cNvPr id="250" name="Shape 248"/>
          <p:cNvSpPr/>
          <p:nvPr/>
        </p:nvSpPr>
        <p:spPr>
          <a:xfrm>
            <a:off x="777180" y="51242416"/>
            <a:ext cx="6075164" cy="1062186"/>
          </a:xfrm>
          <a:prstGeom prst="roundRect">
            <a:avLst>
              <a:gd name="adj" fmla="val 5380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958155" y="51394816"/>
            <a:ext cx="588461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25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Cursores implícitos con FOR</a:t>
            </a:r>
            <a:endParaRPr lang="en-US" sz="1125" dirty="0"/>
          </a:p>
        </p:txBody>
      </p:sp>
      <p:sp>
        <p:nvSpPr>
          <p:cNvPr id="252" name="Text 250"/>
          <p:cNvSpPr/>
          <p:nvPr/>
        </p:nvSpPr>
        <p:spPr>
          <a:xfrm>
            <a:off x="958155" y="51673869"/>
            <a:ext cx="5884610" cy="516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Utilizados cuando se necesita procesar fila por fila para acumular un resultado, como en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sp_cierre_del_dia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63" dirty="0"/>
          </a:p>
        </p:txBody>
      </p:sp>
      <p:sp>
        <p:nvSpPr>
          <p:cNvPr id="253" name="Shape 251"/>
          <p:cNvSpPr/>
          <p:nvPr/>
        </p:nvSpPr>
        <p:spPr>
          <a:xfrm>
            <a:off x="777180" y="52418903"/>
            <a:ext cx="6075164" cy="1301353"/>
          </a:xfrm>
          <a:prstGeom prst="roundRect">
            <a:avLst>
              <a:gd name="adj" fmla="val 4392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958155" y="52571303"/>
            <a:ext cx="588461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25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SYS_REFCURSOR</a:t>
            </a:r>
            <a:endParaRPr lang="en-US" sz="1125" dirty="0"/>
          </a:p>
        </p:txBody>
      </p:sp>
      <p:sp>
        <p:nvSpPr>
          <p:cNvPr id="255" name="Text 253"/>
          <p:cNvSpPr/>
          <p:nvPr/>
        </p:nvSpPr>
        <p:spPr>
          <a:xfrm>
            <a:off x="958155" y="52850355"/>
            <a:ext cx="588461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 como parámetro OUT en los procedimientos que devuelven conjuntos de datos al cliente (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sp_historial_vehiculo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sp_listar_reposicion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sp_reporte_servicios_top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entre otros). Permite retornar resultados tabulados sin imprimir dentro del procedimiento.</a:t>
            </a:r>
            <a:endParaRPr lang="en-US" sz="1163" dirty="0"/>
          </a:p>
        </p:txBody>
      </p:sp>
      <p:sp>
        <p:nvSpPr>
          <p:cNvPr id="256" name="Shape 254"/>
          <p:cNvSpPr/>
          <p:nvPr/>
        </p:nvSpPr>
        <p:spPr>
          <a:xfrm>
            <a:off x="777180" y="53834556"/>
            <a:ext cx="6075164" cy="1301353"/>
          </a:xfrm>
          <a:prstGeom prst="roundRect">
            <a:avLst>
              <a:gd name="adj" fmla="val 4392"/>
            </a:avLst>
          </a:prstGeom>
          <a:ln w="9525">
            <a:solidFill>
              <a:srgbClr val="E2E4E8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958155" y="53986956"/>
            <a:ext cx="588461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25" b="1" dirty="0">
                <a:solidFill>
                  <a:srgbClr val="16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con funciones de agregación</a:t>
            </a:r>
            <a:endParaRPr lang="en-US" sz="1125" dirty="0"/>
          </a:p>
        </p:txBody>
      </p:sp>
      <p:sp>
        <p:nvSpPr>
          <p:cNvPr id="258" name="Text 256"/>
          <p:cNvSpPr/>
          <p:nvPr/>
        </p:nvSpPr>
        <p:spPr>
          <a:xfrm>
            <a:off x="958155" y="54266009"/>
            <a:ext cx="5884610" cy="7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procedimientos donde no se requiere procesamiento fila por fila (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sp_calcular_orden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62000"/>
              </a:lnSpc>
              <a:buNone/>
            </a:pPr>
            <a:r>
              <a:rPr lang="en-US" sz="938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sp_consumo_repuestos </a:t>
            </a:r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Es más eficiente que un cursor para estos casos.</a:t>
            </a:r>
            <a:endParaRPr lang="en-US" sz="1163" dirty="0"/>
          </a:p>
        </p:txBody>
      </p:sp>
      <p:sp>
        <p:nvSpPr>
          <p:cNvPr id="259" name="Text 257"/>
          <p:cNvSpPr/>
          <p:nvPr/>
        </p:nvSpPr>
        <p:spPr>
          <a:xfrm>
            <a:off x="777180" y="55650259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75" dirty="0"/>
          </a:p>
        </p:txBody>
      </p:sp>
      <p:sp>
        <p:nvSpPr>
          <p:cNvPr id="260" name="Text 258"/>
          <p:cNvSpPr/>
          <p:nvPr/>
        </p:nvSpPr>
        <p:spPr>
          <a:xfrm>
            <a:off x="1059210" y="55516909"/>
            <a:ext cx="199786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realizadas</a:t>
            </a:r>
            <a:endParaRPr lang="en-US" sz="1875" dirty="0"/>
          </a:p>
        </p:txBody>
      </p:sp>
      <p:sp>
        <p:nvSpPr>
          <p:cNvPr id="261" name="Text 259"/>
          <p:cNvSpPr/>
          <p:nvPr/>
        </p:nvSpPr>
        <p:spPr>
          <a:xfrm>
            <a:off x="777180" y="56036021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62" name="Text 260"/>
          <p:cNvSpPr/>
          <p:nvPr/>
        </p:nvSpPr>
        <p:spPr>
          <a:xfrm>
            <a:off x="983159" y="56045546"/>
            <a:ext cx="12726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clientes</a:t>
            </a:r>
            <a:endParaRPr lang="en-US" sz="1163" dirty="0"/>
          </a:p>
        </p:txBody>
      </p:sp>
      <p:sp>
        <p:nvSpPr>
          <p:cNvPr id="263" name="Text 261"/>
          <p:cNvSpPr/>
          <p:nvPr/>
        </p:nvSpPr>
        <p:spPr>
          <a:xfrm>
            <a:off x="3948112" y="56036021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64" name="Text 262"/>
          <p:cNvSpPr/>
          <p:nvPr/>
        </p:nvSpPr>
        <p:spPr>
          <a:xfrm>
            <a:off x="4154091" y="56045546"/>
            <a:ext cx="13794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vehículos</a:t>
            </a:r>
            <a:endParaRPr lang="en-US" sz="1163" dirty="0"/>
          </a:p>
        </p:txBody>
      </p:sp>
      <p:sp>
        <p:nvSpPr>
          <p:cNvPr id="265" name="Text 263"/>
          <p:cNvSpPr/>
          <p:nvPr/>
        </p:nvSpPr>
        <p:spPr>
          <a:xfrm>
            <a:off x="777180" y="56360913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66" name="Text 264"/>
          <p:cNvSpPr/>
          <p:nvPr/>
        </p:nvSpPr>
        <p:spPr>
          <a:xfrm>
            <a:off x="983159" y="56370438"/>
            <a:ext cx="13302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de órdenes</a:t>
            </a:r>
            <a:endParaRPr lang="en-US" sz="1163" dirty="0"/>
          </a:p>
        </p:txBody>
      </p:sp>
      <p:sp>
        <p:nvSpPr>
          <p:cNvPr id="267" name="Text 265"/>
          <p:cNvSpPr/>
          <p:nvPr/>
        </p:nvSpPr>
        <p:spPr>
          <a:xfrm>
            <a:off x="3948112" y="56360913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68" name="Text 266"/>
          <p:cNvSpPr/>
          <p:nvPr/>
        </p:nvSpPr>
        <p:spPr>
          <a:xfrm>
            <a:off x="4154091" y="56370438"/>
            <a:ext cx="24581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Adición de servicios a órdenes abiertas</a:t>
            </a:r>
            <a:endParaRPr lang="en-US" sz="1163" dirty="0"/>
          </a:p>
        </p:txBody>
      </p:sp>
      <p:sp>
        <p:nvSpPr>
          <p:cNvPr id="269" name="Text 267"/>
          <p:cNvSpPr/>
          <p:nvPr/>
        </p:nvSpPr>
        <p:spPr>
          <a:xfrm>
            <a:off x="777180" y="56685805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70" name="Text 268"/>
          <p:cNvSpPr/>
          <p:nvPr/>
        </p:nvSpPr>
        <p:spPr>
          <a:xfrm>
            <a:off x="983159" y="56695330"/>
            <a:ext cx="12598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stock</a:t>
            </a:r>
            <a:endParaRPr lang="en-US" sz="1163" dirty="0"/>
          </a:p>
        </p:txBody>
      </p:sp>
      <p:sp>
        <p:nvSpPr>
          <p:cNvPr id="271" name="Text 269"/>
          <p:cNvSpPr/>
          <p:nvPr/>
        </p:nvSpPr>
        <p:spPr>
          <a:xfrm>
            <a:off x="3948112" y="56685805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72" name="Text 270"/>
          <p:cNvSpPr/>
          <p:nvPr/>
        </p:nvSpPr>
        <p:spPr>
          <a:xfrm>
            <a:off x="4154091" y="56695330"/>
            <a:ext cx="11595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órdenes</a:t>
            </a:r>
            <a:endParaRPr lang="en-US" sz="1163" dirty="0"/>
          </a:p>
        </p:txBody>
      </p:sp>
      <p:sp>
        <p:nvSpPr>
          <p:cNvPr id="273" name="Text 271"/>
          <p:cNvSpPr/>
          <p:nvPr/>
        </p:nvSpPr>
        <p:spPr>
          <a:xfrm>
            <a:off x="777180" y="57010697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74" name="Text 272"/>
          <p:cNvSpPr/>
          <p:nvPr/>
        </p:nvSpPr>
        <p:spPr>
          <a:xfrm>
            <a:off x="983159" y="57020222"/>
            <a:ext cx="13832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servicios</a:t>
            </a:r>
            <a:endParaRPr lang="en-US" sz="1163" dirty="0"/>
          </a:p>
        </p:txBody>
      </p:sp>
      <p:sp>
        <p:nvSpPr>
          <p:cNvPr id="275" name="Text 273"/>
          <p:cNvSpPr/>
          <p:nvPr/>
        </p:nvSpPr>
        <p:spPr>
          <a:xfrm>
            <a:off x="3948112" y="57010697"/>
            <a:ext cx="186928" cy="277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63" dirty="0"/>
          </a:p>
        </p:txBody>
      </p:sp>
      <p:sp>
        <p:nvSpPr>
          <p:cNvPr id="276" name="Text 274"/>
          <p:cNvSpPr/>
          <p:nvPr/>
        </p:nvSpPr>
        <p:spPr>
          <a:xfrm>
            <a:off x="4154091" y="57020222"/>
            <a:ext cx="1320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clientes</a:t>
            </a:r>
            <a:endParaRPr lang="en-US" sz="1163" dirty="0"/>
          </a:p>
        </p:txBody>
      </p:sp>
      <p:sp>
        <p:nvSpPr>
          <p:cNvPr id="277" name="Text 275"/>
          <p:cNvSpPr/>
          <p:nvPr/>
        </p:nvSpPr>
        <p:spPr>
          <a:xfrm>
            <a:off x="777180" y="57764214"/>
            <a:ext cx="224879" cy="23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75" dirty="0"/>
          </a:p>
        </p:txBody>
      </p:sp>
      <p:sp>
        <p:nvSpPr>
          <p:cNvPr id="278" name="Text 276"/>
          <p:cNvSpPr/>
          <p:nvPr/>
        </p:nvSpPr>
        <p:spPr>
          <a:xfrm>
            <a:off x="1059210" y="57630864"/>
            <a:ext cx="144259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875" b="1" spc="-19" kern="0" dirty="0">
                <a:solidFill>
                  <a:srgbClr val="162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1875" dirty="0"/>
          </a:p>
        </p:txBody>
      </p:sp>
      <p:sp>
        <p:nvSpPr>
          <p:cNvPr id="279" name="Shape 277"/>
          <p:cNvSpPr/>
          <p:nvPr/>
        </p:nvSpPr>
        <p:spPr>
          <a:xfrm>
            <a:off x="777180" y="58235701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80" name="Text 278"/>
          <p:cNvSpPr/>
          <p:nvPr/>
        </p:nvSpPr>
        <p:spPr>
          <a:xfrm>
            <a:off x="986730" y="58159501"/>
            <a:ext cx="42544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implementó correctamente la base de datos relacional del taller.</a:t>
            </a:r>
            <a:endParaRPr lang="en-US" sz="1163" dirty="0"/>
          </a:p>
        </p:txBody>
      </p:sp>
      <p:sp>
        <p:nvSpPr>
          <p:cNvPr id="281" name="Shape 279"/>
          <p:cNvSpPr/>
          <p:nvPr/>
        </p:nvSpPr>
        <p:spPr>
          <a:xfrm>
            <a:off x="777180" y="58579643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82" name="Text 280"/>
          <p:cNvSpPr/>
          <p:nvPr/>
        </p:nvSpPr>
        <p:spPr>
          <a:xfrm>
            <a:off x="986730" y="58503443"/>
            <a:ext cx="5523452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procedimientos almacenados permitieron automatizar procesos y validar reglas del negocio (límite de órdenes por mecánico, control de stock, validación de estados).</a:t>
            </a:r>
            <a:endParaRPr lang="en-US" sz="1163" dirty="0"/>
          </a:p>
        </p:txBody>
      </p:sp>
      <p:sp>
        <p:nvSpPr>
          <p:cNvPr id="283" name="Shape 281"/>
          <p:cNvSpPr/>
          <p:nvPr/>
        </p:nvSpPr>
        <p:spPr>
          <a:xfrm>
            <a:off x="777180" y="59162752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84" name="Text 282"/>
          <p:cNvSpPr/>
          <p:nvPr/>
        </p:nvSpPr>
        <p:spPr>
          <a:xfrm>
            <a:off x="986730" y="59086552"/>
            <a:ext cx="5734690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uso de SYS_REFCURSOR permitió a los procedimientos de reporte devolver conjuntos de datos reales en lugar de simples conteos.</a:t>
            </a:r>
            <a:endParaRPr lang="en-US" sz="1163" dirty="0"/>
          </a:p>
        </p:txBody>
      </p:sp>
      <p:sp>
        <p:nvSpPr>
          <p:cNvPr id="285" name="Shape 283"/>
          <p:cNvSpPr/>
          <p:nvPr/>
        </p:nvSpPr>
        <p:spPr>
          <a:xfrm>
            <a:off x="777180" y="59745860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86" name="Text 284"/>
          <p:cNvSpPr/>
          <p:nvPr/>
        </p:nvSpPr>
        <p:spPr>
          <a:xfrm>
            <a:off x="986730" y="59669660"/>
            <a:ext cx="51714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índices mejoraron el rendimiento de las consultas más frecuentes del sistema.</a:t>
            </a:r>
            <a:endParaRPr lang="en-US" sz="1163" dirty="0"/>
          </a:p>
        </p:txBody>
      </p:sp>
      <p:sp>
        <p:nvSpPr>
          <p:cNvPr id="287" name="Shape 285"/>
          <p:cNvSpPr/>
          <p:nvPr/>
        </p:nvSpPr>
        <p:spPr>
          <a:xfrm>
            <a:off x="777180" y="60089802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88" name="Text 286"/>
          <p:cNvSpPr/>
          <p:nvPr/>
        </p:nvSpPr>
        <p:spPr>
          <a:xfrm>
            <a:off x="986730" y="60013602"/>
            <a:ext cx="6459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</a:t>
            </a:r>
            <a:endParaRPr lang="en-US" sz="1163" dirty="0"/>
          </a:p>
        </p:txBody>
      </p:sp>
      <p:sp>
        <p:nvSpPr>
          <p:cNvPr id="289" name="Text 287"/>
          <p:cNvSpPr/>
          <p:nvPr/>
        </p:nvSpPr>
        <p:spPr>
          <a:xfrm>
            <a:off x="1585913" y="60042177"/>
            <a:ext cx="96782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975" dirty="0">
                <a:solidFill>
                  <a:srgbClr val="B35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fecha_cierre</a:t>
            </a:r>
            <a:endParaRPr lang="en-US" sz="975" dirty="0"/>
          </a:p>
        </p:txBody>
      </p:sp>
      <p:sp>
        <p:nvSpPr>
          <p:cNvPr id="290" name="Text 288"/>
          <p:cNvSpPr/>
          <p:nvPr/>
        </p:nvSpPr>
        <p:spPr>
          <a:xfrm>
            <a:off x="986730" y="60013602"/>
            <a:ext cx="5775006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ORDEN_SERVICIO permite un cálculo correcto del cierre del día, diferenciando la fecha de ingreso de la de finalización del trabajo.</a:t>
            </a:r>
            <a:endParaRPr lang="en-US" sz="1163" dirty="0"/>
          </a:p>
        </p:txBody>
      </p:sp>
      <p:sp>
        <p:nvSpPr>
          <p:cNvPr id="291" name="Shape 289"/>
          <p:cNvSpPr/>
          <p:nvPr/>
        </p:nvSpPr>
        <p:spPr>
          <a:xfrm>
            <a:off x="777180" y="60672911"/>
            <a:ext cx="66675" cy="66675"/>
          </a:xfrm>
          <a:prstGeom prst="ellipse">
            <a:avLst/>
          </a:prstGeom>
          <a:solidFill>
            <a:srgbClr val="16243A"/>
          </a:solidFill>
          <a:ln/>
        </p:spPr>
      </p:sp>
      <p:sp>
        <p:nvSpPr>
          <p:cNvPr id="292" name="Text 290"/>
          <p:cNvSpPr/>
          <p:nvPr/>
        </p:nvSpPr>
        <p:spPr>
          <a:xfrm>
            <a:off x="986730" y="60596711"/>
            <a:ext cx="46443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163" dirty="0">
                <a:solidFill>
                  <a:srgbClr val="23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SQL Developer permitió gestionar eficientemente toda la solución.</a:t>
            </a:r>
            <a:endParaRPr lang="en-US" sz="11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2026-06-24T17:38:56Z</dcterms:created>
  <dcterms:modified xsi:type="dcterms:W3CDTF">2026-06-24T17:38:56Z</dcterms:modified>
</cp:coreProperties>
</file>